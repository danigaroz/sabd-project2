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CADCFC"/>
                </a:solidFill>
                <a:latin typeface="Calibri"/>
              </a:rPr>
              <a:t>SABD — Project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Real-Time Analysis of US Flight Delays
with Apache Flink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Event-Time Windowing, Stream Simulation,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and a Hybrid Stream/Batch Fallback for Top-K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972800" cy="4114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Daniel Garoz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Università degli Studi di Roma Tor Vergata · A.A. 2025/26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Single-student team — Q1 + Q2 mandatory, Q3 optional (skipped)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Q1 — Hourly carrier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4937760" cy="3611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Carriers AA, DL, UA, WN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Tumbling event-time windows of 1 hour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Per (window, carrier): total/completed/cancelled/diverted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Mean DEP_DELAY of non-cancelled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Cancellation rate, late-departure rate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Output: CSV with 10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3035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000" b="1">
                <a:solidFill>
                  <a:srgbClr val="FF9F1C"/>
                </a:solidFill>
                <a:latin typeface="Calibri"/>
              </a:rPr>
              <a:t>Q2 — Top-10 airports by severe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40280"/>
            <a:ext cx="4937760" cy="3611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ALL carriers, group by ORIGIN_AIRPORT_ID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Severe = non-cancelled &amp; non-diverted &amp; DEP_DELAY &gt; 30 min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3 event-time windows: 1h, 6h, full dataset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Filter: ≥ 30 non-cancelled non-diverted flights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Top-10 by descending severe-count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Up to 20 most-delayed flights per airport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Dataset: US BTS — 2,229,453 flight events · 1 Jan – 30 Apr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3 Docker containers · bind-mounted project tree · custom PyFlink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1828800"/>
            <a:ext cx="2286000" cy="82296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965960"/>
            <a:ext cx="228600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events.csv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286000"/>
            <a:ext cx="22860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(pre-sorted by event_time)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3291840"/>
            <a:ext cx="2286000" cy="82296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3429000"/>
            <a:ext cx="228600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Feeder (Python)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749040"/>
            <a:ext cx="22860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TCP :9999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4480560"/>
            <a:ext cx="2286000" cy="82296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4617720"/>
            <a:ext cx="228600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Flink 1.20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937760"/>
            <a:ext cx="22860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JobManager + TaskManager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5669280"/>
            <a:ext cx="2286000" cy="82296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5806440"/>
            <a:ext cx="228600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Q1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6126480"/>
            <a:ext cx="22860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(Results/q1)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286000" cy="822960"/>
          </a:xfrm>
          <a:prstGeom prst="roundRect">
            <a:avLst/>
          </a:prstGeom>
          <a:solidFill>
            <a:srgbClr val="FFE9CB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28600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9F1C"/>
                </a:solidFill>
                <a:latin typeface="Calibri"/>
              </a:rPr>
              <a:t>Post-process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49040"/>
            <a:ext cx="22860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(pandas)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480560"/>
            <a:ext cx="2286000" cy="822960"/>
          </a:xfrm>
          <a:prstGeom prst="roundRect">
            <a:avLst/>
          </a:prstGeom>
          <a:solidFill>
            <a:srgbClr val="FFE9CB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617720"/>
            <a:ext cx="228600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9F1C"/>
                </a:solidFill>
                <a:latin typeface="Calibri"/>
              </a:rPr>
              <a:t>Q2 CSVs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937760"/>
            <a:ext cx="22860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(Results/q2_1h, _6h, _global)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337560.0" y="2651760"/>
            <a:ext cx="2743200.0" cy="640080"/>
          </a:xfrm>
          <a:prstGeom prst="line">
            <a:avLst/>
          </a:prstGeom>
          <a:ln w="19050">
            <a:solidFill>
              <a:srgbClr val="1E276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37560.0" y="4114800"/>
            <a:ext cx="0.0" cy="365760"/>
          </a:xfrm>
          <a:prstGeom prst="line">
            <a:avLst/>
          </a:prstGeom>
          <a:ln w="19050">
            <a:solidFill>
              <a:srgbClr val="1E276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337560.0" y="5303520"/>
            <a:ext cx="0.0" cy="365760"/>
          </a:xfrm>
          <a:prstGeom prst="line">
            <a:avLst/>
          </a:prstGeom>
          <a:ln w="19050">
            <a:solidFill>
              <a:srgbClr val="1E276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80760.0" y="2651760"/>
            <a:ext cx="2834640.0" cy="640080"/>
          </a:xfrm>
          <a:prstGeom prst="line">
            <a:avLst/>
          </a:prstGeom>
          <a:ln w="19050">
            <a:solidFill>
              <a:srgbClr val="FF9F1C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15400.0" y="4114800"/>
            <a:ext cx="0.0" cy="365760"/>
          </a:xfrm>
          <a:prstGeom prst="line">
            <a:avLst/>
          </a:prstGeom>
          <a:ln w="19050">
            <a:solidFill>
              <a:srgbClr val="FF9F1C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Solid (navy) = streaming path (Q1)   |   Dashed (orange) = batch path (Q2)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Stream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Replaying a historical dataset as a real-time event-time stream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365760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2918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1. Pre-sort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3291840" cy="3429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Read 4 monthly CSVs (Jan–Apr 2025)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Build event_time from YEAR, MONTH,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 DAY_OF_MONTH, CRS_DEP_TIME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Sort by event_time → events.csv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Why: avoids out-of-order at source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 → simplifies watermarking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65760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2918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2. TCP feeder + acceleration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40280"/>
            <a:ext cx="3291840" cy="3429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Python TCP server on port 9999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Replays one line per emit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Sleep Δt_wall = (et_{n+1}−et_n) / α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α = 60,000 → 120 days replays in ~3 min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α only compresses wall-clock,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 event-time semantics 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45920"/>
            <a:ext cx="365760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32918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3. Watermark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40280"/>
            <a:ext cx="3291840" cy="3429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for_bounded_out_of_orderness(60s)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Events arrive ordered by construction;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 60s margin = defensive jitter buffer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Smallest window is 1h → 60s ≪ 1h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Null DEP_DELAY treated as 0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 (spec-permitted, branch-free aggregator)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Query 1 — DataStream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Textbook Flink streaming: source → watermark → keyBy → window → sink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943600" cy="50292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66928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Consolas"/>
              </a:rPr>
              <a:t>socketTextStream(feeder, 9999)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20440.0" y="2148840"/>
            <a:ext cx="0.0" cy="13716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2286000"/>
            <a:ext cx="5943600" cy="50292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66928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Consolas"/>
              </a:rPr>
              <a:t>flat_map(parse + filter ∈ {AA,DL,UA,WN})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.0" y="2788920"/>
            <a:ext cx="0.0" cy="13716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926080"/>
            <a:ext cx="5943600" cy="50292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566928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Consolas"/>
              </a:rPr>
              <a:t>assign_timestamps_and_watermarks(60s)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20440.0" y="3429000"/>
            <a:ext cx="0.0" cy="13716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3566160"/>
            <a:ext cx="5943600" cy="50292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566928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Consolas"/>
              </a:rPr>
              <a:t>key_by(carrier)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0440.0" y="4069080"/>
            <a:ext cx="0.0" cy="13716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4206240"/>
            <a:ext cx="5943600" cy="50292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566928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Consolas"/>
              </a:rPr>
              <a:t>window(TumblingEventTimeWindows(1h))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20440.0" y="4709160"/>
            <a:ext cx="0.0" cy="13716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4846320"/>
            <a:ext cx="5943600" cy="50292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46320"/>
            <a:ext cx="566928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Consolas"/>
              </a:rPr>
              <a:t>aggregate(Q1Aggregator, Q1WindowFn)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20440.0" y="5349240"/>
            <a:ext cx="0.0" cy="13716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5486400"/>
            <a:ext cx="5943600" cy="50292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86400"/>
            <a:ext cx="566928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Consolas"/>
              </a:rPr>
              <a:t>FileSink (Results/q1)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645920"/>
            <a:ext cx="50292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Aggregator state — 7 primitives: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148840"/>
            <a:ext cx="5029200" cy="1463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(num, completed, cancelled, diverted,
 sum_dep_delay, count_non_cancelled,
 late_non_cancelled)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31920"/>
            <a:ext cx="50292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Window function emits one CSV line per (window, carrier):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389120"/>
            <a:ext cx="502920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mean_delay = sum / count_non_cancelled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cancellation_rate = 100 · cancelled / num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late_dep_rate = 100 · late_non_cancelled / count_non_cancelled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Constant-time updates → ~10,000 ev/s sustained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Query 1 —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9,765 (window, carrier) rows over 120 days of event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37360"/>
            <a:ext cx="1005840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371600" cy="41148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window_start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1737360"/>
            <a:ext cx="1371600" cy="41148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window_end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737360"/>
            <a:ext cx="731520" cy="41148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airline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1737360"/>
            <a:ext cx="731520" cy="41148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37360"/>
            <a:ext cx="822960" cy="41148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737360"/>
            <a:ext cx="822960" cy="41148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640080" cy="41148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737360"/>
            <a:ext cx="1371600" cy="41148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dep_delay_mean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737360"/>
            <a:ext cx="1097280" cy="41148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canc_rate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737360"/>
            <a:ext cx="1097280" cy="41148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late_rate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48840"/>
            <a:ext cx="10058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4884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2025-01-01 00:00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214884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2025-01-01 01:00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148840"/>
            <a:ext cx="73152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2148840"/>
            <a:ext cx="73152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148840"/>
            <a:ext cx="82296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148840"/>
            <a:ext cx="82296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48840"/>
            <a:ext cx="6400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14884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7.38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148840"/>
            <a:ext cx="10972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148840"/>
            <a:ext cx="10972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30.77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514600"/>
            <a:ext cx="10058400" cy="36576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51460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2025-01-01 00:00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251460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2025-01-01 01:00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514600"/>
            <a:ext cx="73152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DL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2514600"/>
            <a:ext cx="73152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2514600"/>
            <a:ext cx="82296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2514600"/>
            <a:ext cx="82296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514600"/>
            <a:ext cx="6400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51460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-6.00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514600"/>
            <a:ext cx="10972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2514600"/>
            <a:ext cx="10972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880360"/>
            <a:ext cx="10058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288036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2025-01-01 00:00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288036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2025-01-01 01:00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2880360"/>
            <a:ext cx="73152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UA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40" y="2880360"/>
            <a:ext cx="73152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2880360"/>
            <a:ext cx="82296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2120" y="2880360"/>
            <a:ext cx="82296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2880360"/>
            <a:ext cx="6400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288036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10.57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2880360"/>
            <a:ext cx="10972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0.00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2880360"/>
            <a:ext cx="10972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14.29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246120"/>
            <a:ext cx="10058400" cy="36576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24612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2025-04-20 08:00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74520" y="324612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2025-04-20 09:00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3246120"/>
            <a:ext cx="73152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AA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77640" y="3246120"/>
            <a:ext cx="73152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9160" y="3246120"/>
            <a:ext cx="82296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32120" y="3246120"/>
            <a:ext cx="82296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3246120"/>
            <a:ext cx="6400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324612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7.52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246120"/>
            <a:ext cx="10972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0.93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64040" y="3246120"/>
            <a:ext cx="10972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18.31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3611880"/>
            <a:ext cx="10058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361188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2025-04-20 08:00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74520" y="361188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2025-04-20 09:00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46120" y="3611880"/>
            <a:ext cx="73152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DL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7640" y="3611880"/>
            <a:ext cx="73152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251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60" y="3611880"/>
            <a:ext cx="82296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251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2120" y="3611880"/>
            <a:ext cx="82296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55080" y="3611880"/>
            <a:ext cx="6400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95160" y="3611880"/>
            <a:ext cx="1371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1.06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6760" y="3611880"/>
            <a:ext cx="10972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0.00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64040" y="3611880"/>
            <a:ext cx="109728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8.37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493776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Sanity check: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5394960"/>
            <a:ext cx="109728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AA at 2025-01-01 00:00–01:00: 13 flights, all completed, mean delay 7.38 min, 30.77% late (&gt;15 min)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AA at 2025-04-20 08:00–09:00: 215 flights, 2 cancelled (0.93%), 213 completed → busy hub-style traffic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Time-of-day pattern (early morning low traffic, late morning peak) matches BTS dataset characteristics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Query 2 — Four PyFlink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Each version exposed a different failure mode; honest engineering record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577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2120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E5534F"/>
                </a:solidFill>
                <a:latin typeface="Calibri"/>
              </a:rPr>
              <a:t>v1 — ProcessAllWindowFunction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212080" cy="1508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window_all + Python top-10 in process()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Failure: OOM at ~900K events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Cause: 120-day window accumulated all events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  in Beam worker heap (~134 MB)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577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  <a:latin typeface="Calibri"/>
              </a:rPr>
              <a:t>v2 — keyBy + PICKLED accumulator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5212080" cy="1508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Pre-agg keyed by airport_id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Acc: (num,severe,sum,max,top20_list)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Throughput: ~500 ev/s (2–3 orders worse than Q1)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Cause: per-event pickle/unpickle dominates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05072"/>
            <a:ext cx="5577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87952"/>
            <a:ext cx="52120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  <a:latin typeface="Calibri"/>
              </a:rPr>
              <a:t>v3 — v2 + parallelism =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99432"/>
            <a:ext cx="5212080" cy="1508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Throughput regressed to ~300 ev/s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Source is socket → fixed parallelism 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Adding -p 4 only adds Beam coordination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  overhead without source parallelism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05072"/>
            <a:ext cx="5577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87952"/>
            <a:ext cx="52120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  <a:latin typeface="Calibri"/>
              </a:rPr>
              <a:t>v4 — primitive acc + bundle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99432"/>
            <a:ext cx="5212080" cy="1508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Removed top-20 list, primitive TUPLE acc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bundle.size = 10,000 (default 1000)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~540 ev/s; failed at 68% (1.53M / 2.23M)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TaskManager exhausted 1.7 GB process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Query 2 — Final design: hybrid stream/batch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Spec allows 1-student teams to «simulare lo stream e scrivere risultati CSV»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566928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3035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FF9F1C"/>
                </a:solidFill>
                <a:latin typeface="Calibri"/>
              </a:rPr>
              <a:t>Decision: pandas batch over events.csv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5303520" cy="3611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Reads same events.csv that drives the feeder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Groups by (event-time window, airport_id)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Pandas floor("1h") and floor("6h") for buckets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Global window = single bucket over full range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Reconstructs top-20 severely-delayed list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All output CSVs match spec schema exactly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Why it's defensible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937760" cy="3611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Event-time semantics preserved (windows on event_time, not wall-clock)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Spec quote: «simulare lo stream di input»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  Feeder = stream simulation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  Batch processor = downstream consumer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Q1 demonstrates streaming mastery (Flink DataStream API)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Q2 turnaround: hours → 30 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Same output schema, identical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Benchmarks — Q1 throughput vs. parallelism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α = 60,000 · 3 runs · output identical (verified with diff)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6727" y="1828800"/>
            <a:ext cx="87782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06727" y="1828800"/>
            <a:ext cx="18288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parallelism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5527" y="1828800"/>
            <a:ext cx="22860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total time 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527" y="1828800"/>
            <a:ext cx="256032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throughput (ev/s)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847" y="1828800"/>
            <a:ext cx="210312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output 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6727" y="2286000"/>
            <a:ext cx="8778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6727" y="2286000"/>
            <a:ext cx="18288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527" y="2286000"/>
            <a:ext cx="22860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222.9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1527" y="2286000"/>
            <a:ext cx="256032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10,002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847" y="2286000"/>
            <a:ext cx="210312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9,765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06727" y="2743200"/>
            <a:ext cx="8778240" cy="45720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6727" y="2743200"/>
            <a:ext cx="18288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5527" y="2743200"/>
            <a:ext cx="22860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222.9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1527" y="2743200"/>
            <a:ext cx="256032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10,002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2743200"/>
            <a:ext cx="210312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9,765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06727" y="3200400"/>
            <a:ext cx="8778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06727" y="3200400"/>
            <a:ext cx="18288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5527" y="3200400"/>
            <a:ext cx="22860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222.9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1527" y="3200400"/>
            <a:ext cx="256032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10,002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847" y="3200400"/>
            <a:ext cx="210312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9,765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1480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Why is the table flat?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72000"/>
            <a:ext cx="1097280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socketTextStream has intrinsic parallelism 1 — single Java reader thread consumes the TCP socket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Downstream keyBy is on 4 carriers only — p∈{2,4} subtasks cannot shard a single key group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Take-away: to scale, need (i) parallelisable source (Kafka) + (ii) higher key cardinality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Q2 — PyFlink iterations: throughput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Documenting the design pressure that led to the batch fallback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047" y="1828800"/>
            <a:ext cx="105156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047" y="1828800"/>
            <a:ext cx="41148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2847" y="1828800"/>
            <a:ext cx="146304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5887" y="1828800"/>
            <a:ext cx="49377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047" y="228600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2286000"/>
            <a:ext cx="41148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v1 — ProcessAllWindowFn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2847" y="2286000"/>
            <a:ext cx="146304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86000"/>
            <a:ext cx="49377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OOM at ~900 K events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8047" y="2743200"/>
            <a:ext cx="10515600" cy="45720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047" y="2743200"/>
            <a:ext cx="41148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v2 — PICKLED acc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847" y="2743200"/>
            <a:ext cx="146304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743200"/>
            <a:ext cx="49377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Throughput-bound (~73 min ETA)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047" y="320040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047" y="3200400"/>
            <a:ext cx="41148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v3 — v2 + parallelism =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847" y="3200400"/>
            <a:ext cx="146304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3200400"/>
            <a:ext cx="49377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Regression vs v2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8047" y="3657600"/>
            <a:ext cx="10515600" cy="45720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047" y="3657600"/>
            <a:ext cx="41148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v4 — primitive acc + bundle 10k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847" y="3657600"/>
            <a:ext cx="146304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540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3657600"/>
            <a:ext cx="49377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onsolas"/>
              </a:rPr>
              <a:t>Failed at 1.53M / 2.23M (68%)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047" y="4114800"/>
            <a:ext cx="10515600" cy="4572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047" y="4114800"/>
            <a:ext cx="411480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Consolas"/>
              </a:rPr>
              <a:t>FINAL — pandas batch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2847" y="4114800"/>
            <a:ext cx="146304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Consolas"/>
              </a:rPr>
              <a:t>~75,000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4114800"/>
            <a:ext cx="49377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Consolas"/>
              </a:rPr>
              <a:t>Full output in ~30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2920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Root cause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486400"/>
            <a:ext cx="10972800" cy="10972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Beam-based PyFlink with ~360 keyed states + 2–3 windows saturates Java↔Python RPC. Pure Java/Scala Flink would not exhibit this; porting was out of scope for a 1-student team. The hybrid design ships the spec result reliably.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Three engineering take-aways for streaming on a single-host budget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3749039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383279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Source parallelism matters more than job -p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3383279" cy="3154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socketTextStream is paralelism = 1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Adding more subtasks cannot beat the source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Kafka/Pulsar partitions = real source parallelism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1645920"/>
            <a:ext cx="3749039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828800"/>
            <a:ext cx="3383279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PyFlink ≠ Flink for hot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240280"/>
            <a:ext cx="3383279" cy="3154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Beam RPC dominates when accumulators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 are complex or keys are many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Primitive TUPLE accumulators help a lot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Bundle size tuning amortises RPC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18" y="1645920"/>
            <a:ext cx="3749039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198" y="1828800"/>
            <a:ext cx="3383279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  <a:latin typeface="Calibri"/>
              </a:rPr>
              <a:t>Spec relaxation is a feature, not a defeat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198" y="2240280"/>
            <a:ext cx="3383279" cy="3154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Spec allows batch for 1-student teams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Designing for that relaxation = correct call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Q1 proves streaming chops; Q2 ships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Calibri"/>
              </a:rPr>
              <a:t>Daniel Garoz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danigarochini@gmail.com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1">
                <a:solidFill>
                  <a:srgbClr val="CADCFC"/>
                </a:solidFill>
                <a:latin typeface="Calibri"/>
              </a:rPr>
              <a:t>Deliverables in the repository: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972800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src/   — query1.py (PyFlink), query2_batch.py (pandas), feeder.py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Results/   — q1 (9,765 rows), q2_{1h,6h,global}_final.csv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Report/   — report.pdf (IEEE) + ai_declaration.pdf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